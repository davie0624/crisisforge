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ab0a8f2c6344c0" /><Relationship Type="http://schemas.openxmlformats.org/officeDocument/2006/relationships/extended-properties" Target="/docProps/app.xml" Id="R723d510acf1b48b7" /><Relationship Type="http://schemas.openxmlformats.org/officeDocument/2006/relationships/officeDocument" Target="/ppt/presentation.xml" Id="R7318b13051864f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5fc789ba974ec7"/>
  </p:sldMasterIdLst>
  <p:notesMasterIdLst>
    <p:notesMasterId xmlns:r="http://schemas.openxmlformats.org/officeDocument/2006/relationships" r:id="R892dbde9d459460d"/>
  </p:notesMasterIdLst>
  <p:sldIdLst>
    <p:sldId xmlns:r="http://schemas.openxmlformats.org/officeDocument/2006/relationships" id="256" r:id="R91c45033382c41f0"/>
    <p:sldId xmlns:r="http://schemas.openxmlformats.org/officeDocument/2006/relationships" id="257" r:id="R501fe602b994416c"/>
    <p:sldId xmlns:r="http://schemas.openxmlformats.org/officeDocument/2006/relationships" id="258" r:id="Rda09be8b83364765"/>
    <p:sldId xmlns:r="http://schemas.openxmlformats.org/officeDocument/2006/relationships" id="259" r:id="R88eeee8ff76e4050"/>
    <p:sldId xmlns:r="http://schemas.openxmlformats.org/officeDocument/2006/relationships" id="260" r:id="R9f71e1fe7acd45a7"/>
    <p:sldId xmlns:r="http://schemas.openxmlformats.org/officeDocument/2006/relationships" id="261" r:id="Ra0004618bfec4655"/>
    <p:sldId xmlns:r="http://schemas.openxmlformats.org/officeDocument/2006/relationships" id="262" r:id="R802731d742734205"/>
    <p:sldId xmlns:r="http://schemas.openxmlformats.org/officeDocument/2006/relationships" id="263" r:id="R0c4897de5de24008"/>
    <p:sldId xmlns:r="http://schemas.openxmlformats.org/officeDocument/2006/relationships" id="264" r:id="R2e43de4ced78429b"/>
    <p:sldId xmlns:r="http://schemas.openxmlformats.org/officeDocument/2006/relationships" id="265" r:id="Recdfb2698c7345b3"/>
    <p:sldId xmlns:r="http://schemas.openxmlformats.org/officeDocument/2006/relationships" id="266" r:id="Rfd0bc35593a047d9"/>
    <p:sldId xmlns:r="http://schemas.openxmlformats.org/officeDocument/2006/relationships" id="267" r:id="Ra050245e9eb44a4e"/>
    <p:sldId xmlns:r="http://schemas.openxmlformats.org/officeDocument/2006/relationships" id="268" r:id="R0a5164c7ebda4b22"/>
    <p:sldId xmlns:r="http://schemas.openxmlformats.org/officeDocument/2006/relationships" id="269" r:id="Rc13599b162b04e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3331e602b04be7" /><Relationship Type="http://schemas.openxmlformats.org/officeDocument/2006/relationships/slideMaster" Target="/ppt/slideMasters/slideMaster1.xml" Id="Rc55fc789ba974ec7" /><Relationship Type="http://schemas.openxmlformats.org/officeDocument/2006/relationships/notesMaster" Target="/ppt/notesMasters/notesMaster1.xml" Id="R892dbde9d459460d" /><Relationship Type="http://schemas.openxmlformats.org/officeDocument/2006/relationships/presProps" Target="/ppt/presProps.xml" Id="R0bcc917125ce4c81" /><Relationship Type="http://schemas.openxmlformats.org/officeDocument/2006/relationships/tableStyles" Target="/ppt/tableStyles.xml" Id="R98d4773225dc491a" /><Relationship Type="http://schemas.openxmlformats.org/officeDocument/2006/relationships/slide" Target="/ppt/slides/slide1.xml" Id="R91c45033382c41f0" /><Relationship Type="http://schemas.openxmlformats.org/officeDocument/2006/relationships/slide" Target="/ppt/slides/slide2.xml" Id="R501fe602b994416c" /><Relationship Type="http://schemas.openxmlformats.org/officeDocument/2006/relationships/slide" Target="/ppt/slides/slide3.xml" Id="Rda09be8b83364765" /><Relationship Type="http://schemas.openxmlformats.org/officeDocument/2006/relationships/slide" Target="/ppt/slides/slide4.xml" Id="R88eeee8ff76e4050" /><Relationship Type="http://schemas.openxmlformats.org/officeDocument/2006/relationships/slide" Target="/ppt/slides/slide5.xml" Id="R9f71e1fe7acd45a7" /><Relationship Type="http://schemas.openxmlformats.org/officeDocument/2006/relationships/slide" Target="/ppt/slides/slide6.xml" Id="Ra0004618bfec4655" /><Relationship Type="http://schemas.openxmlformats.org/officeDocument/2006/relationships/slide" Target="/ppt/slides/slide7.xml" Id="R802731d742734205" /><Relationship Type="http://schemas.openxmlformats.org/officeDocument/2006/relationships/slide" Target="/ppt/slides/slide8.xml" Id="R0c4897de5de24008" /><Relationship Type="http://schemas.openxmlformats.org/officeDocument/2006/relationships/slide" Target="/ppt/slides/slide9.xml" Id="R2e43de4ced78429b" /><Relationship Type="http://schemas.openxmlformats.org/officeDocument/2006/relationships/slide" Target="/ppt/slides/slide10.xml" Id="Recdfb2698c7345b3" /><Relationship Type="http://schemas.openxmlformats.org/officeDocument/2006/relationships/slide" Target="/ppt/slides/slide11.xml" Id="Rfd0bc35593a047d9" /><Relationship Type="http://schemas.openxmlformats.org/officeDocument/2006/relationships/slide" Target="/ppt/slides/slide12.xml" Id="Ra050245e9eb44a4e" /><Relationship Type="http://schemas.openxmlformats.org/officeDocument/2006/relationships/slide" Target="/ppt/slides/slide13.xml" Id="R0a5164c7ebda4b22" /><Relationship Type="http://schemas.openxmlformats.org/officeDocument/2006/relationships/slide" Target="/ppt/slides/slide14.xml" Id="Rc13599b162b04e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f4a5af62041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02218a082c451a" /><Relationship Type="http://schemas.openxmlformats.org/officeDocument/2006/relationships/notesMaster" Target="/ppt/notesMasters/notesMaster1.xml" Id="R57750208648e47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9006aa180a4001" /><Relationship Type="http://schemas.openxmlformats.org/officeDocument/2006/relationships/notesMaster" Target="/ppt/notesMasters/notesMaster1.xml" Id="Ref2bbc62870d4e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13d8a80077429a" /><Relationship Type="http://schemas.openxmlformats.org/officeDocument/2006/relationships/notesMaster" Target="/ppt/notesMasters/notesMaster1.xml" Id="Rb0f8db8ff4df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c72e7ba9df486d" /><Relationship Type="http://schemas.openxmlformats.org/officeDocument/2006/relationships/notesMaster" Target="/ppt/notesMasters/notesMaster1.xml" Id="Rc40b4b5e43c046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5a8b3daff44091" /><Relationship Type="http://schemas.openxmlformats.org/officeDocument/2006/relationships/notesMaster" Target="/ppt/notesMasters/notesMaster1.xml" Id="Rea9a42b343f441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9c871d70c141e1" /><Relationship Type="http://schemas.openxmlformats.org/officeDocument/2006/relationships/notesMaster" Target="/ppt/notesMasters/notesMaster1.xml" Id="R5949b533e3eb4c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ca2662efa849b2" /><Relationship Type="http://schemas.openxmlformats.org/officeDocument/2006/relationships/notesMaster" Target="/ppt/notesMasters/notesMaster1.xml" Id="Rb19b44efcf1c49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4f03daecf648d4" /><Relationship Type="http://schemas.openxmlformats.org/officeDocument/2006/relationships/notesMaster" Target="/ppt/notesMasters/notesMaster1.xml" Id="R24a48e8c39a94a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1103e3113e467d" /><Relationship Type="http://schemas.openxmlformats.org/officeDocument/2006/relationships/notesMaster" Target="/ppt/notesMasters/notesMaster1.xml" Id="R030534a8813b45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31f4ed2d5848ae" /><Relationship Type="http://schemas.openxmlformats.org/officeDocument/2006/relationships/notesMaster" Target="/ppt/notesMasters/notesMaster1.xml" Id="R03d67de688fd41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06888a6b2745ce" /><Relationship Type="http://schemas.openxmlformats.org/officeDocument/2006/relationships/notesMaster" Target="/ppt/notesMasters/notesMaster1.xml" Id="Raf37fa26d8844d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b0312ad8e344ef" /><Relationship Type="http://schemas.openxmlformats.org/officeDocument/2006/relationships/notesMaster" Target="/ppt/notesMasters/notesMaster1.xml" Id="Rc5633c04da7242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00f6ca22a5463d" /><Relationship Type="http://schemas.openxmlformats.org/officeDocument/2006/relationships/notesMaster" Target="/ppt/notesMasters/notesMaster1.xml" Id="Rcf95400bc77544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449d55d8b1462b" /><Relationship Type="http://schemas.openxmlformats.org/officeDocument/2006/relationships/notesMaster" Target="/ppt/notesMasters/notesMaster1.xml" Id="R6da1084c7fe04e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question: does a more sophisticated scenario generator improve risk decisions?</a:t>
            </a:r>
          </a:p>
          <a:p xmlns:a="http://schemas.openxmlformats.org/drawingml/2006/main">
            <a:r>
              <a:t>The answer from the current validation release is deliberately mixed and mostly 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reports/crisisforge_research_report.md</a:t>
            </a:r>
          </a:p>
          <a:p xmlns:a="http://schemas.openxmlformats.org/drawingml/2006/main">
            <a:r>
              <a:t>- docs/research_proposal.md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negative result rather than the architecture.</a:t>
            </a:r>
          </a:p>
          <a:p xmlns:a="http://schemas.openxmlformats.org/drawingml/2006/main">
            <a:r>
              <a:t>Five paired intervals exclude zero against Stage 1; none clearly favors it.</a:t>
            </a:r>
          </a:p>
          <a:p xmlns:a="http://schemas.openxmlformats.org/drawingml/2006/main">
            <a:r>
              <a:t>The diffusion experiment has four origins and cannot support ranking or coverage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reports/crisisforge_research_report.md#technical-summary</a:t>
            </a:r>
          </a:p>
          <a:p xmlns:a="http://schemas.openxmlformats.org/drawingml/2006/main">
            <a:r>
              <a:t>- experiments/stage3_comparison/summary.json</a:t>
            </a:r>
          </a:p>
          <a:p xmlns:a="http://schemas.openxmlformats.org/drawingml/2006/main">
            <a:r>
              <a:t>- experiments/stage2_diffusion/summary.json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Blue components are completed public-core modules; amber marks pilot or partial evidence.</a:t>
            </a:r>
          </a:p>
          <a:p xmlns:a="http://schemas.openxmlformats.org/drawingml/2006/main">
            <a:r>
              <a:t>The switching-factor system is PCA–HMM–VAR with plug-in parameters, not a joint Bayesian posterior.</a:t>
            </a:r>
          </a:p>
          <a:p xmlns:a="http://schemas.openxmlformats.org/drawingml/2006/main">
            <a:r>
              <a:t>The semi-synthetic structural counterfactual track is deliberately separate from observed-market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reports/figures/00_implemented_research_architecture.png</a:t>
            </a:r>
          </a:p>
          <a:p xmlns:a="http://schemas.openxmlformats.org/drawingml/2006/main">
            <a:r>
              <a:t>- docs/mathematical_formulation.md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matrix contains 15 asset-return targets and 10 context variables.</a:t>
            </a:r>
          </a:p>
          <a:p xmlns:a="http://schemas.openxmlformats.org/drawingml/2006/main">
            <a:r>
              <a:t>The data are method-development proxies: French portfolios are research constructs and Treasury returns are duration-convexity approximations.</a:t>
            </a:r>
          </a:p>
          <a:p xmlns:a="http://schemas.openxmlformats.org/drawingml/2006/main">
            <a:r>
              <a:t>Sealed means excluded from fitting, selection, scoring, and decisions—not encrypted or physically inaccessible.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reports/figures/01_chronological_research_split.png</a:t>
            </a:r>
          </a:p>
          <a:p xmlns:a="http://schemas.openxmlformats.org/drawingml/2006/main">
            <a:r>
              <a:t>- data/processed/phase0_manifest.json</a:t>
            </a:r>
          </a:p>
          <a:p xmlns:a="http://schemas.openxmlformats.org/drawingml/2006/main">
            <a:r>
              <a:t>- https://mba.tuck.dartmouth.edu/pages/faculty/ken.french/data_library.html</a:t>
            </a:r>
          </a:p>
          <a:p xmlns:a="http://schemas.openxmlformats.org/drawingml/2006/main">
            <a:r>
              <a:t>- https://home.treasury.gov/resource-center/data-chart-center/interest-rates</a:t>
            </a:r>
          </a:p>
          <a:p xmlns:a="http://schemas.openxmlformats.org/drawingml/2006/main">
            <a:r>
              <a:t>- https://www.newyorkfed.org/markets/reference-rates/effr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evaluation uses 74 non-overlapping 20-day validation origins and 1,000 scenarios per origin.</a:t>
            </a:r>
          </a:p>
          <a:p xmlns:a="http://schemas.openxmlformats.org/drawingml/2006/main">
            <a:r>
              <a:t>Stage 1 energy is 0.094315 and variogram is 0.588639; lower is better.</a:t>
            </a:r>
          </a:p>
          <a:p xmlns:a="http://schemas.openxmlformats.org/drawingml/2006/main">
            <a:r>
              <a:t>No conventional baseline wins every metric, so the report avoids selecting a model from one aggregate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reports/figures/02_validation_distribution_scores.png</a:t>
            </a:r>
          </a:p>
          <a:p xmlns:a="http://schemas.openxmlformats.org/drawingml/2006/main">
            <a:r>
              <a:t>- experiments/stage0_baselines/summary.json</a:t>
            </a:r>
          </a:p>
          <a:p xmlns:a="http://schemas.openxmlformats.org/drawingml/2006/main">
            <a:r>
              <a:t>- experiments/stage1_switching_factor/summary.json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Circular moving-block bootstrap: block length four, 10,000 draws.</a:t>
            </a:r>
          </a:p>
          <a:p xmlns:a="http://schemas.openxmlformats.org/drawingml/2006/main">
            <a:r>
              <a:t>Versus filtered historical, Stage 1 energy difference is +0.00458 and variogram difference is +0.0466; both 95% intervals exclude zero.</a:t>
            </a:r>
          </a:p>
          <a:p xmlns:a="http://schemas.openxmlformats.org/drawingml/2006/main">
            <a:r>
              <a:t>The comparison mixes architecture and update policy because Stage 0 rolls 1,500-row refits while Stage 1 freezes parameters after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reports/figures/03_paired_validation_intervals.png</a:t>
            </a:r>
          </a:p>
          <a:p xmlns:a="http://schemas.openxmlformats.org/drawingml/2006/main">
            <a:r>
              <a:t>- experiments/stage3_comparison/summary.json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HMM converged after 37 iterations from the selected of 12 starts; the smallest state has 5.23% soft occupancy.</a:t>
            </a:r>
          </a:p>
          <a:p xmlns:a="http://schemas.openxmlformats.org/drawingml/2006/main">
            <a:r>
              <a:t>State 0 has a high-volatility, negative-mean profile ex post, but that does not make it a structural crisis regime.</a:t>
            </a:r>
          </a:p>
          <a:p xmlns:a="http://schemas.openxmlformats.org/drawingml/2006/main">
            <a:r>
              <a:t>The observation map samples complete state paths and correlated idiosyncratic residuals; it does not probability-average Cholesky matrices.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reports/figures/04_latent_regime_profiles.png</a:t>
            </a:r>
          </a:p>
          <a:p xmlns:a="http://schemas.openxmlformats.org/drawingml/2006/main">
            <a:r>
              <a:t>- docs/mathematical_formulation.md#factor-to-asset-observation-map</a:t>
            </a:r>
          </a:p>
          <a:p xmlns:a="http://schemas.openxmlformats.org/drawingml/2006/main">
            <a:r>
              <a:t>- experiments/stage1_switching_factor/summary.json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DDPM energy: 0.092049; tail-weighted DDPM energy: 0.091680.</a:t>
            </a:r>
          </a:p>
          <a:p xmlns:a="http://schemas.openxmlformats.org/drawingml/2006/main">
            <a:r>
              <a:t>Variogram improves 1.94%, while joint VaR–ES worsens from -0.934902 to -0.933368.</a:t>
            </a:r>
          </a:p>
          <a:p xmlns:a="http://schemas.openxmlformats.org/drawingml/2006/main">
            <a:r>
              <a:t>Future HMM paths are sampled separately from factor paths conditional on the origin belief, so joint dynamic consistency is not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reports/figures/07_diffusion_engineering_pilot.png</a:t>
            </a:r>
          </a:p>
          <a:p xmlns:a="http://schemas.openxmlformats.org/drawingml/2006/main">
            <a:r>
              <a:t>- experiments/stage2_diffusion/summary.json</a:t>
            </a:r>
          </a:p>
          <a:p xmlns:a="http://schemas.openxmlformats.org/drawingml/2006/main">
            <a:r>
              <a:t>- https://proceedings.mlr.press/v202/shen23d.html</a:t>
            </a:r>
          </a:p>
          <a:p xmlns:a="http://schemas.openxmlformats.org/drawingml/2006/main">
            <a:r>
              <a:t>- https://proceedings.iclr.cc/paper_files/paper/2024/hash/f90fc76b199fe6b0ec2a51aaf72c3277-Abstract-Conference.html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decision rules are long-only, fully invested, with a 20% asset cap, 40% L1 turnover cap, and 10-basis-point linear cost.</a:t>
            </a:r>
          </a:p>
          <a:p xmlns:a="http://schemas.openxmlformats.org/drawingml/2006/main">
            <a:r>
              <a:t>Historical CVaR cumulative net return is 0.4473 versus 0.3083 for Stage 1 scenario CVaR.</a:t>
            </a:r>
          </a:p>
          <a:p xmlns:a="http://schemas.openxmlformats.org/drawingml/2006/main">
            <a:r>
              <a:t>The registered Wasserstein radius grid barely changes the allocation and does not improve ES or drawdown.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reports/figures/05_portfolio_decision_outcomes.png</a:t>
            </a:r>
          </a:p>
          <a:p xmlns:a="http://schemas.openxmlformats.org/drawingml/2006/main">
            <a:r>
              <a:t>- experiments/stage5_decisions/summary.json</a:t>
            </a:r>
          </a:p>
          <a:p xmlns:a="http://schemas.openxmlformats.org/drawingml/2006/main">
            <a:r>
              <a:t>- https://link.springer.com/article/10.1007/s10107-017-1172-1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experiment uses 5,000 paired 20-step paths and shared exogenous noise.</a:t>
            </a:r>
          </a:p>
          <a:p xmlns:a="http://schemas.openxmlformats.org/drawingml/2006/main">
            <a:r>
              <a:t>Path loss signs are equity −1 and volatility +1, so lower equity and higher volatility both represent stress losses.</a:t>
            </a:r>
          </a:p>
          <a:p xmlns:a="http://schemas.openxmlformats.org/drawingml/2006/main">
            <a:r>
              <a:t>No-feedback misspecification produces equity tail-effect error 3.2142 and volatility tail-effect error 3.4354.</a:t>
            </a:r>
          </a:p>
          <a:p xmlns:a="http://schemas.openxmlformats.org/drawingml/2006/main">
            <a:r>
              <a:t>Nothing here identifies a Federal Reserve policy effect in observed markets.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reports/figures/06_counterfactual_misspecification.png</a:t>
            </a:r>
          </a:p>
          <a:p xmlns:a="http://schemas.openxmlformats.org/drawingml/2006/main">
            <a:r>
              <a:t>- experiments/stage6_counterfactual/summary.json</a:t>
            </a:r>
          </a:p>
          <a:p xmlns:a="http://schemas.openxmlformats.org/drawingml/2006/main">
            <a:r>
              <a:t>- docs/mathematical_formulation.md#structural-counterfactual-extension</a:t>
            </a:r>
          </a:p>
          <a:p xmlns:a="http://schemas.openxmlformats.org/drawingml/2006/main">
            <a:r>
              <a:t>- https://iclr.cc/virtual/2026/poster/10011565</a:t>
            </a:r>
          </a:p>
          <a:p xmlns:a="http://schemas.openxmlformats.org/drawingml/2006/main">
            <a:r>
              <a:t>- https://openreview.net/forum?id=FwC6CyaHop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report distinguishes system completion from evidence strength.</a:t>
            </a:r>
          </a:p>
          <a:p xmlns:a="http://schemas.openxmlformats.org/drawingml/2006/main">
            <a:r>
              <a:t>Co-crash discrimination is also not established: the realized validation label is zero at every evaluated origin.</a:t>
            </a:r>
          </a:p>
          <a:p xmlns:a="http://schemas.openxmlformats.org/drawingml/2006/main">
            <a:r>
              <a:t>POT/GPD, conformal recalibration, and ESR utilities are not integrated into the reported diffusion experiment.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reports/crisisforge_research_report.md#what-the-experiments-establishand-what-they-do-not</a:t>
            </a:r>
          </a:p>
          <a:p xmlns:a="http://schemas.openxmlformats.org/drawingml/2006/main">
            <a:r>
              <a:t>- reports/crisisforge_research_report.md#co-crash-validation-is-event-limited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closest factor-structured diffusion paper is a preprint and is used only to motivate a falsifiable hypothesis.</a:t>
            </a:r>
          </a:p>
          <a:p xmlns:a="http://schemas.openxmlformats.org/drawingml/2006/main">
            <a:r>
              <a:t>The project does not claim to invent Markov switching, diffusion, CVaR, Wasserstein DRO, or structural causal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https://www.jstor.org/stable/1912559</a:t>
            </a:r>
          </a:p>
          <a:p xmlns:a="http://schemas.openxmlformats.org/drawingml/2006/main">
            <a:r>
              <a:t>- https://www.sciencedirect.com/science/article/pii/0304407694900361</a:t>
            </a:r>
          </a:p>
          <a:p xmlns:a="http://schemas.openxmlformats.org/drawingml/2006/main">
            <a:r>
              <a:t>- https://proceedings.mlr.press/v202/shen23d.html</a:t>
            </a:r>
          </a:p>
          <a:p xmlns:a="http://schemas.openxmlformats.org/drawingml/2006/main">
            <a:r>
              <a:t>- https://proceedings.iclr.cc/paper_files/paper/2024/hash/f90fc76b199fe6b0ec2a51aaf72c3277-Abstract-Conference.html</a:t>
            </a:r>
          </a:p>
          <a:p xmlns:a="http://schemas.openxmlformats.org/drawingml/2006/main">
            <a:r>
              <a:t>- https://pubsonline.informs.org/doi/10.1287/mnsc.2023.00936</a:t>
            </a:r>
          </a:p>
          <a:p xmlns:a="http://schemas.openxmlformats.org/drawingml/2006/main">
            <a:r>
              <a:t>- https://arxiv.org/abs/2504.06566</a:t>
            </a:r>
          </a:p>
          <a:p xmlns:a="http://schemas.openxmlformats.org/drawingml/2006/main">
            <a:r>
              <a:t>- docs/literature_review.md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open the sealed test while the diffusion experiment remains underpowered and registered ablations are missing.</a:t>
            </a:r>
          </a:p>
          <a:p xmlns:a="http://schemas.openxmlformats.org/drawingml/2006/main">
            <a:r>
              <a:t>Joint factor/state consistency is a priority because current future state paths and factor paths are sampled separately.</a:t>
            </a:r>
          </a:p>
          <a:p xmlns:a="http://schemas.openxmlformats.org/drawingml/2006/main">
            <a:r>
              <a:t>Keep observed-market causal work separate until there is an identification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reports/crisisforge_research_report.md#recommended-next-experiments</a:t>
            </a:r>
          </a:p>
          <a:p xmlns:a="http://schemas.openxmlformats.org/drawingml/2006/main">
            <a:r>
              <a:t>- docs/research_proposal.md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 question: this release does not show that generative or structural sophistication improves decisions.</a:t>
            </a:r>
          </a:p>
          <a:p xmlns:a="http://schemas.openxmlformats.org/drawingml/2006/main">
            <a:r>
              <a:t>Its strongest contribution is an auditable framework that makes failure visible and the next experiment credible.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reports/crisisforge_research_report.md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857793d8d4d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8d4861e33e44e0" /><Relationship Type="http://schemas.openxmlformats.org/officeDocument/2006/relationships/slideLayout" Target="/ppt/slideLayouts/slideLayout1.xml" Id="R6235e12d02ce43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5e12d02ce43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2792b8d134756" /><Relationship Type="http://schemas.openxmlformats.org/officeDocument/2006/relationships/notesSlide" Target="/ppt/notesSlides/notesSlide1.xml" Id="R539199bb125c49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05afc2c5948bf" /><Relationship Type="http://schemas.openxmlformats.org/officeDocument/2006/relationships/notesSlide" Target="/ppt/notesSlides/notesSlide2.xml" Id="Rc3b7ceeab64142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a81ec56ac4dfb" /><Relationship Type="http://schemas.openxmlformats.org/officeDocument/2006/relationships/chart" Target="/ppt/slides/charts/chart1.xml" Id="R5c161bcf110b4f3b" /><Relationship Type="http://schemas.openxmlformats.org/officeDocument/2006/relationships/image" Target="/ppt/media/image.png" Id="R866dbcaf1aa64ff1" /><Relationship Type="http://schemas.openxmlformats.org/officeDocument/2006/relationships/notesSlide" Target="/ppt/notesSlides/notesSlide3.xml" Id="R53a3404d6f3c40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a9a5128e24bcd" /><Relationship Type="http://schemas.openxmlformats.org/officeDocument/2006/relationships/chart" Target="/ppt/slides/charts/chart2.xml" Id="R2331b291e4ea470c" /><Relationship Type="http://schemas.openxmlformats.org/officeDocument/2006/relationships/image" Target="/ppt/media/image2.png" Id="R3be5addec51940e7" /><Relationship Type="http://schemas.openxmlformats.org/officeDocument/2006/relationships/notesSlide" Target="/ppt/notesSlides/notesSlide4.xml" Id="Rd582742f620346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018b66bbe4179" /><Relationship Type="http://schemas.openxmlformats.org/officeDocument/2006/relationships/chart" Target="/ppt/slides/charts/chart3.xml" Id="R368db9796c2048ca" /><Relationship Type="http://schemas.openxmlformats.org/officeDocument/2006/relationships/image" Target="/ppt/media/image3.png" Id="R0026418e98114480" /><Relationship Type="http://schemas.openxmlformats.org/officeDocument/2006/relationships/notesSlide" Target="/ppt/notesSlides/notesSlide5.xml" Id="R0fbd1964568546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9c5543ebc4d26" /><Relationship Type="http://schemas.openxmlformats.org/officeDocument/2006/relationships/chart" Target="/ppt/slides/charts/chart4.xml" Id="R91998ccc914f4bc9" /><Relationship Type="http://schemas.openxmlformats.org/officeDocument/2006/relationships/image" Target="/ppt/media/image4.png" Id="Rde2fcaf1d21b4466" /><Relationship Type="http://schemas.openxmlformats.org/officeDocument/2006/relationships/notesSlide" Target="/ppt/notesSlides/notesSlide6.xml" Id="Rdf8f01e6b7ea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d069496c84d80" /><Relationship Type="http://schemas.openxmlformats.org/officeDocument/2006/relationships/chart" Target="/ppt/slides/charts/chart5.xml" Id="R7490c286f86b4b8e" /><Relationship Type="http://schemas.openxmlformats.org/officeDocument/2006/relationships/image" Target="/ppt/media/image5.png" Id="R5814674f6f8543de" /><Relationship Type="http://schemas.openxmlformats.org/officeDocument/2006/relationships/notesSlide" Target="/ppt/notesSlides/notesSlide7.xml" Id="R7360143359b147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11ee5f35246dc" /><Relationship Type="http://schemas.openxmlformats.org/officeDocument/2006/relationships/chart" Target="/ppt/slides/charts/chart6.xml" Id="R91812d4c3a45488a" /><Relationship Type="http://schemas.openxmlformats.org/officeDocument/2006/relationships/image" Target="/ppt/media/image6.png" Id="R453384a8c0704051" /><Relationship Type="http://schemas.openxmlformats.org/officeDocument/2006/relationships/notesSlide" Target="/ppt/notesSlides/notesSlide8.xml" Id="Rfffa07c8433a48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e3b3e120a4a0d" /><Relationship Type="http://schemas.openxmlformats.org/officeDocument/2006/relationships/chart" Target="/ppt/slides/charts/chart7.xml" Id="R78f16748c9984c03" /><Relationship Type="http://schemas.openxmlformats.org/officeDocument/2006/relationships/image" Target="/ppt/media/image7.png" Id="Ree7ed6659b4a4fec" /><Relationship Type="http://schemas.openxmlformats.org/officeDocument/2006/relationships/notesSlide" Target="/ppt/notesSlides/notesSlide9.xml" Id="Rf88b60a72bc94d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f7449382b4b96" /><Relationship Type="http://schemas.openxmlformats.org/officeDocument/2006/relationships/chart" Target="/ppt/slides/charts/chart8.xml" Id="R9215653542ba44de" /><Relationship Type="http://schemas.openxmlformats.org/officeDocument/2006/relationships/image" Target="/ppt/media/image8.png" Id="R7fb5de7359cc4be9" /><Relationship Type="http://schemas.openxmlformats.org/officeDocument/2006/relationships/notesSlide" Target="/ppt/notesSlides/notesSlide10.xml" Id="R05b850856d2a48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dfa3734924f05" /><Relationship Type="http://schemas.openxmlformats.org/officeDocument/2006/relationships/notesSlide" Target="/ppt/notesSlides/notesSlide11.xml" Id="Ra888dbd97d7e4f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45ef529d4483d" /><Relationship Type="http://schemas.openxmlformats.org/officeDocument/2006/relationships/notesSlide" Target="/ppt/notesSlides/notesSlide12.xml" Id="R71db553e51194a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0b7b957754208" /><Relationship Type="http://schemas.openxmlformats.org/officeDocument/2006/relationships/notesSlide" Target="/ppt/notesSlides/notesSlide13.xml" Id="R1e6029268cbb4f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159feac1a4bab" /><Relationship Type="http://schemas.openxmlformats.org/officeDocument/2006/relationships/notesSlide" Target="/ppt/notesSlides/notesSlide14.xml" Id="R41de30471bd6456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Series 1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ln xmlns:a="http://schemas.openxmlformats.org/drawingml/2006/main" w="28575">
              <a:solidFill>
                <a:srgbClr val="D0EDFA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Series 1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ln xmlns:a="http://schemas.openxmlformats.org/drawingml/2006/main" w="28575">
              <a:solidFill>
                <a:srgbClr val="D0EDFA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Series 1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ln xmlns:a="http://schemas.openxmlformats.org/drawingml/2006/main" w="28575">
              <a:solidFill>
                <a:srgbClr val="D0EDFA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Series 1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ln xmlns:a="http://schemas.openxmlformats.org/drawingml/2006/main" w="28575">
              <a:solidFill>
                <a:srgbClr val="D0EDFA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1B8C1CA6-1601-4255-A74F-9C04CA05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CrisisForge
Decision-Focused Market Simulation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DE6A0D9-D9F3-4EC9-A66F-986D028C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Factor-structured temporal diffusion, asset-level tail risk, and robust portfolio control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140D1A1-70EE-4F2A-8F17-9F7B4319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PUBLIC-CORE VALIDATION RELEASE · 28 JULY 2026</a:t>
            </a:r>
          </a:p>
        </p:txBody>
      </p:sp>
      <p:sp>
        <p:nvSpPr>
          <p:cNvPr id="4" name="accent-footer-rule">
            <a:extLst xmlns:a="http://schemas.openxmlformats.org/drawingml/2006/main">
              <a:ext uri="{FF2B5EF4-FFF2-40B4-BE49-F238E27FC236}">
                <a16:creationId xmlns:a16="http://schemas.microsoft.com/office/drawing/2014/main" id="{416770A1-58FB-46C1-BCE4-3C0CD58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62042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9CE5189-0107-42C4-A6AC-6B53471D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4F76FA8-14D2-4E9F-9C17-16909D74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5F1028D-3490-469A-9F08-26F4BAF7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6F18099-3934-498E-AD89-79F7DAAD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6B2927B4-50C2-4CA7-93F8-44D6E8A1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answer is no—at least on the current validation evidence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5980680-858E-4FE6-A179-E0AC39A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paired score intervals clearly favor Stage 1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D3F612A-673C-496D-8236-616E1389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post-2019 test evidence remains unopened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DB3476D-692F-4D4F-9B87-2773E4BA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diffusion reporting origins—engineering pilot only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19E6124-8286-4518-84B5-815A5C1C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 / 7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2F4005D-B047-4335-857E-701A71DE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3E76794-4E17-437D-9149-6512A444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SEALED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A1846CE-9783-49DB-BB79-DC2ADA0B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Main finding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historical and block-bootstrap generators remain hard to beat. Added architecture did not translate into better validation decisions.</a:t>
            </a:r>
          </a:p>
        </p:txBody>
      </p:sp>
      <p:sp>
        <p:nvSpPr>
          <p:cNvPr id="13" name="accent-footer-rule">
            <a:extLst xmlns:a="http://schemas.openxmlformats.org/drawingml/2006/main">
              <a:ext uri="{FF2B5EF4-FFF2-40B4-BE49-F238E27FC236}">
                <a16:creationId xmlns:a16="http://schemas.microsoft.com/office/drawing/2014/main" id="{D5567EFA-FF02-4BC3-8B64-02D35ADE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14300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2253BCF-7219-4919-95B4-AF77EC84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4A03854-0C4D-4E91-B63B-92E850E5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architecture is broad, but its evidence levels are explicit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0AB8464B-F228-40ED-85F6-FB02CB7D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7334CCE2-C6D2-4C58-B5B4-B5BE875A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CF02CEF-85A4-4A56-82A2-B4E13E73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completed public
validation path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D65759B7-E4E1-44F5-A660-74D0464E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D872AF58-622F-4F0B-8B34-7FFEDFCC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0FF6BEC-FC04-4BE0-A19F-03F49E4B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diffusion and
causal extension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EFE0BDA6-68DD-4A6C-9B2D-F0C8B604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Governed public data feeds a plug-in switching-factor simulator, asset mapping, risk engine, and decision layer.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161bcf110b4f3b"/>
          </a:graphicData>
        </a:graphic>
      </p:graphicFrame>
      <p:sp>
        <p:nvSpPr>
          <p:cNvPr id="11" name="evidence-frame-00_implemented_research_architecture.png">
            <a:extLst xmlns:a="http://schemas.openxmlformats.org/drawingml/2006/main">
              <a:ext uri="{FF2B5EF4-FFF2-40B4-BE49-F238E27FC236}">
                <a16:creationId xmlns:a16="http://schemas.microsoft.com/office/drawing/2014/main" id="{0E0B43EE-E376-4A02-A91D-E0D4CB3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1190625"/>
            <a:ext cx="55435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dbcaf1aa64ff1"/>
          <a:stretch xmlns:a="http://schemas.openxmlformats.org/drawingml/2006/main"/>
        </p:blipFill>
        <p:spPr>
          <a:xfrm xmlns:a="http://schemas.openxmlformats.org/drawingml/2006/main">
            <a:off x="485775" y="2277919"/>
            <a:ext cx="5343525" cy="28736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086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80930C1-0AE4-433A-A5EC-D1B201E8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B1A09E8-F17E-4B3D-AFD5-65F7792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Governance prevents the test set from becoming a tuning resource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34A153F-BE9A-4FA6-83E6-78818F32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6,465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849738E3-5092-49D9-AA70-F4BD44B3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complete common-
endpoint rows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D9E064A-9756-4177-B36E-DF3DF30C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1,599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AFD9E2D4-D0FD-42E7-B073-FF50F39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sealed test rows
from 2020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236F31CB-8793-4A08-88B5-A6F139BE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49C266E1-5F2B-424A-851A-80E49122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Chronological split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All reported model scores and portfolio decisions end in 2019. Post-2019 rows are governed-excluded from evaluation.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31b291e4ea470c"/>
          </a:graphicData>
        </a:graphic>
      </p:graphicFrame>
      <p:sp>
        <p:nvSpPr>
          <p:cNvPr id="10" name="evidence-frame-01_chronological_research_split.png">
            <a:extLst xmlns:a="http://schemas.openxmlformats.org/drawingml/2006/main">
              <a:ext uri="{FF2B5EF4-FFF2-40B4-BE49-F238E27FC236}">
                <a16:creationId xmlns:a16="http://schemas.microsoft.com/office/drawing/2014/main" id="{457CB4F9-9572-4B10-A9C4-1AA438E1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1190625"/>
            <a:ext cx="55435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5addec51940e7"/>
          <a:stretch xmlns:a="http://schemas.openxmlformats.org/drawingml/2006/main"/>
        </p:blipFill>
        <p:spPr>
          <a:xfrm xmlns:a="http://schemas.openxmlformats.org/drawingml/2006/main">
            <a:off x="485775" y="3085484"/>
            <a:ext cx="5343525" cy="12585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3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A189F67-801A-4EAA-AC88-31037629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7F693CB-A4AA-4DAD-B33A-9D0C63D8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Conventional time-dependence baselines lead the structured model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2775446D-F4C5-41F7-93D7-E5CE2D9F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EE7FC8D0-48FE-4300-88FA-4AC2301F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0.089739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943DB30-9ACE-4F30-99FD-CB8A0916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best energy
filtered historical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5BEA11E1-D491-439E-B0FE-04B02A10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5D4B0573-1C63-48EF-B3B2-3EC3A78A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5.41%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D50E083-0EC4-44D7-806D-46972493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moving-block
VaR violations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01DC4AF4-8756-40E6-84CF-9269C0A3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Filtered historical simulation wins energy score; moving blocks win variogram and closest 5% VaR coverage.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8db9796c2048ca"/>
          </a:graphicData>
        </a:graphic>
      </p:graphicFrame>
      <p:sp>
        <p:nvSpPr>
          <p:cNvPr id="11" name="evidence-frame-02_validation_distribution_scores.png">
            <a:extLst xmlns:a="http://schemas.openxmlformats.org/drawingml/2006/main">
              <a:ext uri="{FF2B5EF4-FFF2-40B4-BE49-F238E27FC236}">
                <a16:creationId xmlns:a16="http://schemas.microsoft.com/office/drawing/2014/main" id="{06339E15-AC80-4442-85A3-BD38CC5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1190625"/>
            <a:ext cx="55435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6418e98114480"/>
          <a:stretch xmlns:a="http://schemas.openxmlformats.org/drawingml/2006/main"/>
        </p:blipFill>
        <p:spPr>
          <a:xfrm xmlns:a="http://schemas.openxmlformats.org/drawingml/2006/main">
            <a:off x="485775" y="2543943"/>
            <a:ext cx="5343525" cy="23416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83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758036D-4AE1-4516-BADA-367D7265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A9DA7A8-00F9-48B6-822E-50719FE2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Paired uncertainty rejects a broad Stage 1 superiority story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065E4DF-EA5F-4DAC-ABE3-B1E9A39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 / 21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F5BE63E2-7B9E-47EB-9EC1-4291591D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intervals exclude zero
against Stage 1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A7E63CF-3536-4655-A64E-CFBD4A13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 / 7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070DB877-0C27-4FC7-8303-47CB647B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joint VaR–ES intervals
exclude zero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2E8CC9CF-AF17-4393-825B-EC7BE5E1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F6415AD0-7EEA-4309-85DD-D6773B39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Origin-matched comparison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Energy and variogram differences are positive against leading baselines; positive values favor Stage 0.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998ccc914f4bc9"/>
          </a:graphicData>
        </a:graphic>
      </p:graphicFrame>
      <p:sp>
        <p:nvSpPr>
          <p:cNvPr id="10" name="evidence-frame-03_paired_validation_intervals.png">
            <a:extLst xmlns:a="http://schemas.openxmlformats.org/drawingml/2006/main">
              <a:ext uri="{FF2B5EF4-FFF2-40B4-BE49-F238E27FC236}">
                <a16:creationId xmlns:a16="http://schemas.microsoft.com/office/drawing/2014/main" id="{4AAF6E4E-AB87-4AD0-AAC2-D34365B4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1190625"/>
            <a:ext cx="55435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fcaf1d21b4466"/>
          <a:stretch xmlns:a="http://schemas.openxmlformats.org/drawingml/2006/main"/>
        </p:blipFill>
        <p:spPr>
          <a:xfrm xmlns:a="http://schemas.openxmlformats.org/drawingml/2006/main">
            <a:off x="485775" y="2635612"/>
            <a:ext cx="5343525" cy="21582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350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F080344-5D8E-4E54-AE5D-9B831A8C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B509A56-7FEE-48D1-A3B9-3FC3FACA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states are statistical profiles—not economic causes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48248372-84CE-4605-9609-CE97144B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3E178CD5-D920-44F1-B5CA-2F9E540E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6347A85-8134-4CEB-AAD5-C0CE8033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PCA factors and
HMM states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2B5DFC51-515D-4F96-9819-1BC9B557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E735581D-FCA9-4AF3-9EFF-EB7EBB2A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85.995%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DCCA21C-BA69-4813-9590-E9E4C5F3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training variance
explained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81117E06-58A3-43A4-9363-2CB137B0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risk is reconstructed through rₜ = α(zₜ)+B(zₜ)fₜ+D(zₜ)εₜ with correlated residual draws.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90c286f86b4b8e"/>
          </a:graphicData>
        </a:graphic>
      </p:graphicFrame>
      <p:sp>
        <p:nvSpPr>
          <p:cNvPr id="11" name="evidence-frame-04_latent_regime_profiles.png">
            <a:extLst xmlns:a="http://schemas.openxmlformats.org/drawingml/2006/main">
              <a:ext uri="{FF2B5EF4-FFF2-40B4-BE49-F238E27FC236}">
                <a16:creationId xmlns:a16="http://schemas.microsoft.com/office/drawing/2014/main" id="{FE6A9701-926D-4069-B8B5-C69055AB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1190625"/>
            <a:ext cx="55435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4674f6f8543de"/>
          <a:stretch xmlns:a="http://schemas.openxmlformats.org/drawingml/2006/main"/>
        </p:blipFill>
        <p:spPr>
          <a:xfrm xmlns:a="http://schemas.openxmlformats.org/drawingml/2006/main">
            <a:off x="485775" y="2679043"/>
            <a:ext cx="5343525" cy="20714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563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BA62FD1-9BBF-483C-93C2-D2B735D4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BFCCA66-E480-4D47-B3BA-450C8A77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one-shot diffusion run proves plumbing—not superiority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87935FB-FD2E-427E-9FE9-5599E15A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ED981055-DE06-4082-97E8-1F1274DF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reporting origins;
no ranking claim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163958D-61B3-4F03-978F-4C2FEC8A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CBDF03FF-07BD-45B9-BAB6-1041253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scenarios per origin
in the pilot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33B4BEB8-6F45-476F-8DA0-AC30AD4C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BFCA6B9F-0A3C-4874-A8DD-69DE96B7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 × 4 tensor generation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Tail weighting improves two distribution scores but worsens the joint VaR–ES score in a four-origin pilot.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812d4c3a45488a"/>
          </a:graphicData>
        </a:graphic>
      </p:graphicFrame>
      <p:sp>
        <p:nvSpPr>
          <p:cNvPr id="10" name="evidence-frame-07_diffusion_engineering_pilot.png">
            <a:extLst xmlns:a="http://schemas.openxmlformats.org/drawingml/2006/main">
              <a:ext uri="{FF2B5EF4-FFF2-40B4-BE49-F238E27FC236}">
                <a16:creationId xmlns:a16="http://schemas.microsoft.com/office/drawing/2014/main" id="{E64FB700-70A4-4C90-B8C9-CB794BEB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1190625"/>
            <a:ext cx="55435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384a8c0704051"/>
          <a:stretch xmlns:a="http://schemas.openxmlformats.org/drawingml/2006/main"/>
        </p:blipFill>
        <p:spPr>
          <a:xfrm xmlns:a="http://schemas.openxmlformats.org/drawingml/2006/main">
            <a:off x="485775" y="1983150"/>
            <a:ext cx="5343525" cy="34631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513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174AC9B-CDD1-4C22-B4A8-1C7710D5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02A4EEA-CBFA-4D59-9279-5E24A99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Better-looking scenarios did not deliver better risk decisions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114813DF-C6F0-4F18-B7B3-517C3626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E604BE78-46E6-4538-8674-4AC73901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0.01767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044A1261-0216-428B-A58A-AB3AFF33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historical CVaR
realized ES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F3FC6395-FDE8-4195-A05A-0D649FE7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BF1192D6-0249-47FD-9D99-4C9F4C87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0.02074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5245024-607D-4F13-B421-99B93253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Stage 1 CVaR
realized ES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B3996C11-6A97-4C3C-BE4C-7681DB74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Historical empirical CVaR has lower realized ES, drawdown, turnover, and cost than Stage 1 scenario CVaR.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f16748c9984c03"/>
          </a:graphicData>
        </a:graphic>
      </p:graphicFrame>
      <p:sp>
        <p:nvSpPr>
          <p:cNvPr id="11" name="evidence-frame-05_portfolio_decision_outcomes.png">
            <a:extLst xmlns:a="http://schemas.openxmlformats.org/drawingml/2006/main">
              <a:ext uri="{FF2B5EF4-FFF2-40B4-BE49-F238E27FC236}">
                <a16:creationId xmlns:a16="http://schemas.microsoft.com/office/drawing/2014/main" id="{E4ED1D6A-0EBF-4570-A051-A2C880A3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1190625"/>
            <a:ext cx="55435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ed6659b4a4fec"/>
          <a:stretch xmlns:a="http://schemas.openxmlformats.org/drawingml/2006/main"/>
        </p:blipFill>
        <p:spPr>
          <a:xfrm xmlns:a="http://schemas.openxmlformats.org/drawingml/2006/main">
            <a:off x="485775" y="2163933"/>
            <a:ext cx="5343525" cy="31016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640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BAA9919-C951-4FA0-BD81-FCDEC22B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C72B86F-8E72-4198-841D-2EDB6659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Counterfactual correctness under truth is fragile to structure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100B669-549D-436E-B611-757C173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4.08e−17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2B165A85-200F-4556-94A4-47825385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oracle maximum
path error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28DB751-3F03-4E55-8EA1-B043ABDB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3.4354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D7C850DA-0750-454E-9E9D-CAA7B257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volatility tail-effect
error without feedback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5A04F2A3-E8E7-45BC-BE91-36B88FB6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07A87F02-A1C2-48AA-81A0-A1342CC8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 semi-synthetic SCM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Abduction–action–prediction is numerically exact under the registered equations, then degrades under two deliberate misspecifications.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15653542ba44de"/>
          </a:graphicData>
        </a:graphic>
      </p:graphicFrame>
      <p:sp>
        <p:nvSpPr>
          <p:cNvPr id="10" name="evidence-frame-06_counterfactual_misspecification.png">
            <a:extLst xmlns:a="http://schemas.openxmlformats.org/drawingml/2006/main">
              <a:ext uri="{FF2B5EF4-FFF2-40B4-BE49-F238E27FC236}">
                <a16:creationId xmlns:a16="http://schemas.microsoft.com/office/drawing/2014/main" id="{B055087B-8397-4B6E-B120-C5F78A30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1190625"/>
            <a:ext cx="55435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5de7359cc4be9"/>
          <a:stretch xmlns:a="http://schemas.openxmlformats.org/drawingml/2006/main"/>
        </p:blipFill>
        <p:spPr>
          <a:xfrm xmlns:a="http://schemas.openxmlformats.org/drawingml/2006/main">
            <a:off x="485775" y="2677524"/>
            <a:ext cx="5343525" cy="20744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528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C4F0FC5-DD2A-436D-AFD4-385935D8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ECBA566-2211-44FD-BA97-DC934B43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evidence boundary is part of the contribution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82D4B192-E890-4D1A-9F4D-592BA5B8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3D73C1F-798A-4EDB-83FA-08E0FA68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Established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Finite asset scenarios, paired comparisons, and retained negative results.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B90A6DAC-C79E-41C1-A31F-6465508C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AB57F5F-EA83-4BE9-A11B-7C90C90C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Established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Reproducible public pipeline and sealed-test governance.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EAA3D1CE-FCCA-4653-94F3-D7F2AA8D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C0F3826C-6929-4B6E-A518-97CDF9CC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established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Full Bayesian uncertainty, selected DRO radius, or real-market causality.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1889AE71-4108-4BDB-AF86-A03AF486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537B1AA9-DDC3-43A0-BD1A-7F76B5D0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established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Test-set superiority, investability, or live-trading profitability.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BD615D4-BAFD-45BD-854B-38EF1FC4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this release can—and cannot—support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claims are deliberately narrower than the architecture.</a:t>
            </a:r>
          </a:p>
        </p:txBody>
      </p:sp>
      <p:sp>
        <p:nvSpPr>
          <p:cNvPr id="12" name="accent-footer-rule">
            <a:extLst xmlns:a="http://schemas.openxmlformats.org/drawingml/2006/main">
              <a:ext uri="{FF2B5EF4-FFF2-40B4-BE49-F238E27FC236}">
                <a16:creationId xmlns:a16="http://schemas.microsoft.com/office/drawing/2014/main" id="{170B8FCC-E573-453C-A1EA-1B6502AA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09194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1503B53-CC82-4026-ABBC-06DD1ADC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D9D302D-91F3-40D0-A61E-7B540215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Integration is the contribution—not novelty by label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856C18D1-E976-42E4-AA1A-2980CD3C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61494C0-2532-4121-A229-00054BF5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One-shot paths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TimeDiff and FTS-Diffusion motivate sequence generation.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E451A9AF-5F6C-4608-BF42-8FCA0688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9716182-0EA4-448E-9844-934AE7F7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states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Hamilton and Kim ground the regime layer.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83DA5813-6345-4492-9E3E-B305822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B4D5FE7C-96C1-4376-AC77-95B7F8DB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Causal boundary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Intervention work motivates a separate known-SCM track.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0948BBAF-DA95-4408-B990-65176E7A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475503ED-45F9-458D-AEFF-A2C97DD9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Tail decisions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Tail-GAN, EVT, CVaR, and WDRO define comparisons.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FAB8D89-2751-43F2-994A-8B999213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anchors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Each module is tied to a distinct literature and a claim limit.</a:t>
            </a:r>
          </a:p>
        </p:txBody>
      </p:sp>
      <p:sp>
        <p:nvSpPr>
          <p:cNvPr id="12" name="accent-footer-rule">
            <a:extLst xmlns:a="http://schemas.openxmlformats.org/drawingml/2006/main">
              <a:ext uri="{FF2B5EF4-FFF2-40B4-BE49-F238E27FC236}">
                <a16:creationId xmlns:a16="http://schemas.microsoft.com/office/drawing/2014/main" id="{E8D47BDE-ACEE-4C2C-916A-A4096A90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86953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3FEDC34-062C-4DA4-B1C9-75D1FA9B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B6B4D2E-4714-41F7-9E3D-D3F2EF6F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release must reduce uncertainty before adding capacity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DA33C1C-E13D-4EEB-BB16-A483C219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7D1EC3B-24E2-4BD4-8A46-59C6DBEE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6D07D63-FBC6-4586-903A-CF1EF07C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AB87C58-376D-47FD-A3B8-EC235FC2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GATE 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C5F4129-9CFB-4A40-85ED-A12C429C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GATE 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BDB32D2-2C39-4291-A385-0818853B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GATE 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8B38AEE-3788-48ED-AC42-D4CAB8FE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 policies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Equalize rolling versus frozen estimation; integrate one tail method at a time.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223041D-E6B5-444A-AC32-728393B9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 diffusion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Run all 74 origins with direct, unconditional, hard-state, and fixed-map ablations.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C25D7E9-9435-4145-8C81-D5F27D75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Freeze, then test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Calibrate the DRO radius on nested validation. Unlock post-2019 only after preregistration.</a:t>
            </a:r>
          </a:p>
        </p:txBody>
      </p:sp>
      <p:sp>
        <p:nvSpPr>
          <p:cNvPr id="13" name="accent-footer-rule">
            <a:extLst xmlns:a="http://schemas.openxmlformats.org/drawingml/2006/main">
              <a:ext uri="{FF2B5EF4-FFF2-40B4-BE49-F238E27FC236}">
                <a16:creationId xmlns:a16="http://schemas.microsoft.com/office/drawing/2014/main" id="{DE9FFE14-9D73-41A1-926B-1F44930B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81615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E3711053-6373-453B-8552-C129C58D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Complexity must
earn its place.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BA43696-75E8-4EDD-A0A6-4C79A288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first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
Negative results retained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
Test evidence still sealed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2FFC987-D8BB-47B3-85DC-D70B771B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CRISISFORGE</a:t>
            </a:r>
          </a:p>
        </p:txBody>
      </p:sp>
      <p:sp>
        <p:nvSpPr>
          <p:cNvPr id="4" name="accent-footer-rule">
            <a:extLst xmlns:a="http://schemas.openxmlformats.org/drawingml/2006/main">
              <a:ext uri="{FF2B5EF4-FFF2-40B4-BE49-F238E27FC236}">
                <a16:creationId xmlns:a16="http://schemas.microsoft.com/office/drawing/2014/main" id="{BB72B6F8-8C1B-40F2-B912-0C0A14F3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1069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2026-07-28T02:56:01.2970000Z</dcterms:created>
  <dcterms:modified xsi:type="dcterms:W3CDTF">2026-07-28T02:56:01.2970000Z</dcterms:modified>
</coreProperties>
</file>